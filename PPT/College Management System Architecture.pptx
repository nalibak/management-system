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JetBrains Mono" panose="020B0604020202020204" charset="0"/>
      <p:regular r:id="rId25"/>
      <p:bold r:id="rId26"/>
      <p:italic r:id="rId27"/>
      <p:boldItalic r:id="rId28"/>
    </p:embeddedFont>
    <p:embeddedFont>
      <p:font typeface="Petrona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1ECAB3-C282-44AD-97D2-937B9A7AD49A}">
  <a:tblStyle styleId="{C81ECAB3-C282-44AD-97D2-937B9A7AD4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E6C06ABC-44BC-B154-F60C-42A86704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>
            <a:extLst>
              <a:ext uri="{FF2B5EF4-FFF2-40B4-BE49-F238E27FC236}">
                <a16:creationId xmlns:a16="http://schemas.microsoft.com/office/drawing/2014/main" id="{4AB80EDC-E2F7-4CD9-F3FB-8FAF6639AC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1:notes">
            <a:extLst>
              <a:ext uri="{FF2B5EF4-FFF2-40B4-BE49-F238E27FC236}">
                <a16:creationId xmlns:a16="http://schemas.microsoft.com/office/drawing/2014/main" id="{E51E562B-B1ED-B547-7ABC-CCAB56710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904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cl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100" y="269775"/>
            <a:ext cx="1462900" cy="143422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485000" y="3796499"/>
            <a:ext cx="9222000" cy="17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Times New Roman"/>
              <a:buNone/>
            </a:pPr>
            <a:r>
              <a:rPr lang="en-US" sz="26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r>
              <a:rPr lang="en-US" sz="2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r>
              <a:rPr lang="en-US" sz="2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KABILAN.S.S      </a:t>
            </a:r>
            <a:r>
              <a:rPr lang="en-US" sz="2600" b="1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6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[22TH0024]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Times New Roman"/>
              <a:buNone/>
            </a:pPr>
            <a:r>
              <a:rPr lang="en-US" sz="26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2600" b="1" i="0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LOGAPRIY</a:t>
            </a:r>
            <a:r>
              <a:rPr lang="en-US" sz="2600" b="1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</a:t>
            </a:r>
            <a:r>
              <a:rPr lang="en-US" sz="26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.A  </a:t>
            </a:r>
            <a:r>
              <a:rPr lang="en-US" sz="2600" b="1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[22TH0028]</a:t>
            </a:r>
            <a:endParaRPr dirty="0">
              <a:solidFill>
                <a:schemeClr val="dk1"/>
              </a:solidFill>
            </a:endParaRPr>
          </a:p>
          <a:p>
            <a:pPr marL="2286000" marR="0" lvl="0" indent="45720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Times New Roman"/>
              <a:buNone/>
            </a:pPr>
            <a:r>
              <a:rPr lang="en-US" sz="2600" b="1" i="0" u="none" strike="noStrike" cap="none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RAJESH.R             </a:t>
            </a:r>
            <a:r>
              <a:rPr lang="en-US" sz="2600" b="1" dirty="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[22TH0043]</a:t>
            </a:r>
            <a:endParaRPr dirty="0">
              <a:solidFill>
                <a:schemeClr val="dk1"/>
              </a:solidFill>
            </a:endParaRPr>
          </a:p>
          <a:p>
            <a:pPr marL="2286000" marR="0" lvl="0" indent="457200" algn="l" rtl="0"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2600"/>
              <a:buFont typeface="Times New Roman"/>
              <a:buNone/>
            </a:pPr>
            <a:endParaRPr sz="2600" b="1" dirty="0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55634" y="2341247"/>
            <a:ext cx="106284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</a:t>
            </a:r>
            <a:r>
              <a:rPr lang="en-US" sz="2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      </a:t>
            </a:r>
            <a:r>
              <a:rPr lang="en-US" sz="2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r>
              <a:rPr lang="en-US" sz="2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Management System with AI Agent				 	(AIRA)</a:t>
            </a:r>
            <a:endParaRPr sz="2800" b="0" i="0" u="none" strike="noStrike" cap="none">
              <a:solidFill>
                <a:srgbClr val="4472C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endParaRPr sz="2600" b="0" i="0" u="none" strike="noStrike" cap="none">
              <a:solidFill>
                <a:srgbClr val="2F549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76875" y="1280100"/>
            <a:ext cx="8520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Petrona"/>
                <a:ea typeface="Petrona"/>
                <a:cs typeface="Petrona"/>
                <a:sym typeface="Petrona"/>
              </a:rPr>
              <a:t>DEPARTMENT OF INFORMATION TECHNOLOGY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509600" y="354000"/>
            <a:ext cx="10628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6D9EEB"/>
                </a:solidFill>
                <a:latin typeface="Petrona"/>
                <a:ea typeface="Petrona"/>
                <a:cs typeface="Petrona"/>
                <a:sym typeface="Petrona"/>
              </a:rPr>
              <a:t>RAJIV GANDHI COLLEGE OF ENGINEERING &amp; TECHNOLOGY</a:t>
            </a:r>
            <a:endParaRPr sz="2800" b="1">
              <a:solidFill>
                <a:srgbClr val="6D9EEB"/>
              </a:solidFill>
              <a:latin typeface="Petrona"/>
              <a:ea typeface="Petrona"/>
              <a:cs typeface="Petrona"/>
              <a:sym typeface="Petro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155477"/>
            <a:ext cx="8801100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College Management System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346102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Refined Requirements, Scalable Architecture &amp; AI Integration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2025" y="4321373"/>
            <a:ext cx="11525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05050" y="4321373"/>
            <a:ext cx="10763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1875" y="4321373"/>
            <a:ext cx="13335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4435673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95550" y="4435673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62375" y="4435673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763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Academic Structure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76300" y="30289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Technical college framework operating on a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credit-based semester system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Includes CGPA calculation with manual override capabilities.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82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Role-Based Access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4648200" y="30289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Strict hierarchy: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Super Admin, Admin, HOD, and Staff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Currently no student portal; focused on administrative and faculty operations.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01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Dynamic Fees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420100" y="30289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 fee structures varying by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course AND category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(Govt, Mgmt, Scholarship). Full payment tracking with receipt generation.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1781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1781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17811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Core System Requirements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86012"/>
            <a:ext cx="11029950" cy="2952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7" name="Google Shape;127;p16"/>
          <p:cNvGraphicFramePr/>
          <p:nvPr>
            <p:extLst>
              <p:ext uri="{D42A27DB-BD31-4B8C-83A1-F6EECF244321}">
                <p14:modId xmlns:p14="http://schemas.microsoft.com/office/powerpoint/2010/main" val="2505876660"/>
              </p:ext>
            </p:extLst>
          </p:nvPr>
        </p:nvGraphicFramePr>
        <p:xfrm>
          <a:off x="590550" y="2395537"/>
          <a:ext cx="11010875" cy="2933750"/>
        </p:xfrm>
        <a:graphic>
          <a:graphicData uri="http://schemas.openxmlformats.org/drawingml/2006/table">
            <a:tbl>
              <a:tblPr firstRow="1" bandRow="1">
                <a:noFill/>
                <a:tableStyleId>{C81ECAB3-C282-44AD-97D2-937B9A7AD49A}</a:tableStyleId>
              </a:tblPr>
              <a:tblGrid>
                <a:gridCol w="19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Rationale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HTML, CSS, JS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Maximum control, high performance, no build-step complexity.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Python (FastAPI)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High-performance async support, native JSON handling, easy AI integration.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MySQL (XAMPP)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6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Structured relational data, ACID compliance for financial records.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836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Ollama</a:t>
                      </a: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(Gemma 4) + Gemini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 approach: Local privacy (</a:t>
                      </a:r>
                      <a:r>
                        <a:rPr lang="en-US" sz="1200" b="0" i="0" u="none" strike="noStrike" cap="none" dirty="0" err="1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Ollama</a:t>
                      </a:r>
                      <a:r>
                        <a:rPr lang="en-US" sz="1200" b="0" i="0" u="none" strike="noStrike" cap="none" dirty="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) with Cloud power (Gemini) fallback.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8" name="Google Shape;128;p16"/>
          <p:cNvSpPr/>
          <p:nvPr/>
        </p:nvSpPr>
        <p:spPr>
          <a:xfrm>
            <a:off x="590550" y="3000375"/>
            <a:ext cx="19672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557760" y="3000375"/>
            <a:ext cx="271105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268813" y="3000375"/>
            <a:ext cx="63326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90550" y="3581400"/>
            <a:ext cx="19672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2557760" y="3581400"/>
            <a:ext cx="271105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268813" y="3581400"/>
            <a:ext cx="63326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90550" y="4162425"/>
            <a:ext cx="19672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557760" y="4162425"/>
            <a:ext cx="271105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268813" y="4162425"/>
            <a:ext cx="63326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90550" y="4743450"/>
            <a:ext cx="196721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2557760" y="4743450"/>
            <a:ext cx="271105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268813" y="4743450"/>
            <a:ext cx="633263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Technology Stack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8572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0075" y="1"/>
            <a:ext cx="5229225" cy="1567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0075" y="1707982"/>
            <a:ext cx="5229225" cy="1567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0063" y="3386349"/>
            <a:ext cx="5229225" cy="1567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0075" y="5064717"/>
            <a:ext cx="5229225" cy="156775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76300" y="238126"/>
            <a:ext cx="49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43F5E"/>
                </a:solidFill>
                <a:latin typeface="Inter"/>
                <a:ea typeface="Inter"/>
                <a:cs typeface="Inter"/>
                <a:sym typeface="Inter"/>
              </a:rPr>
              <a:t>Super Admin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76300" y="609601"/>
            <a:ext cx="4714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God-mode access. Manages college details, LLM configurations, and system-wide settings.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76300" y="1946107"/>
            <a:ext cx="49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879F9"/>
                </a:solidFill>
                <a:latin typeface="Inter"/>
                <a:ea typeface="Inter"/>
                <a:cs typeface="Inter"/>
                <a:sym typeface="Inter"/>
              </a:rPr>
              <a:t>Admin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76300" y="2317582"/>
            <a:ext cx="4714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Operational control. Adds students, batches, fees, and generates global reports.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76288" y="3624475"/>
            <a:ext cx="49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HOD (Head of Dept)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76288" y="3995950"/>
            <a:ext cx="4714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Department-wide visibility. Views all staff, student performance, and attendance within their domain.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76300" y="5302842"/>
            <a:ext cx="495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Staff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76300" y="5674317"/>
            <a:ext cx="47148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Execution level. Marks attendance and enters exam results for assigned subjects only.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71525" y="-568523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User Roles &amp; Governance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1025" y="-568523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7" descr="&#10;User Roles &amp; Governance&#10;&#10;Super Admin&#10;&#10;God-mode access. Manages college details, LLM configurations, and system-wide settings.&#10;&#10;Admin&#10;&#10;Operational control. Adds students, batches, fees, and generates global reports.&#10;&#10;HOD (Head of Dept)&#10;&#10;Department-wide visibility. Views all staff, student performance, and attendance within their domain.&#10;&#10;Staff&#10;&#10;Execution level. Marks attendance and enters exam results for assigned subjects only.&#10;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68150" y="350825"/>
            <a:ext cx="5229225" cy="52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181100" y="2083296"/>
            <a:ext cx="472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1: Authentication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Role-based login, session handling, and comprehensive activity logs for security auditing.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52525" y="3226296"/>
            <a:ext cx="4752975" cy="104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2: College &amp; Dept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Manages multi-campus metadata and department structures (e.g., CSE, ECE) with HOD mapping.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181100" y="4498478"/>
            <a:ext cx="472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3: Curriculum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Defines Courses (B.Tech), Semesters, and Subjects with credit mapping and department allocation.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886575" y="2083296"/>
            <a:ext cx="4724400" cy="104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4: Batches &amp; Sections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Manages admission years (Batches) and dynamic Sections (A, B, C) which serve as the primary grouping unit.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905625" y="3355478"/>
            <a:ext cx="4705350" cy="104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5: Staff Management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Profiles, designations, and critical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Subject Allocation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(Staff ↔ Subject ↔ Section).</a:t>
            </a:r>
            <a:endParaRPr/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1663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25963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31816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116633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388816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Core Administration Modules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133475" y="2353865"/>
            <a:ext cx="4772025" cy="7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6: Timetable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Complex scheduling linking Period + Room + Staff + Subject + Section.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152525" y="3290887"/>
            <a:ext cx="47529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7: Assessments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Internal/External exams, marks entry, and auto-calculation of GPA/CGPA with manual overrides.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52525" y="4433887"/>
            <a:ext cx="4752975" cy="708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8: Attendance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Granular period-wise tracking with auto-derived day-wise summaries.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858000" y="2353865"/>
            <a:ext cx="4752975" cy="104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9: Fee Management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3-Tier Structure: Fee Structure → Components → Payments. Tracks dues and receipts.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886575" y="3626048"/>
            <a:ext cx="4724400" cy="1043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Module 10: Reporting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PDF/Excel generation for mark sheets, defaulter lists, and attendance summaries.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8720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324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67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6500" y="238720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659385"/>
            <a:ext cx="2190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Academic &amp; Finance Modules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5229225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1457325"/>
            <a:ext cx="5210175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/>
        </p:nvSpPr>
        <p:spPr>
          <a:xfrm>
            <a:off x="6381750" y="14478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Intelligent Overlay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81750" y="1962150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AIRA is a floating chat assistant present on every screen. It provides a natural language interface for complex database operations.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6381750" y="31623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Key Capabilities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381750" y="36385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 Aware: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Knows which page and section you are viewing.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381750" y="43910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Role Restricted: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Strictly mirrors the logged-in user's permissions.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381750" y="51435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Smart Actions: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"Show me CSE attendance &lt; 75%" or "Generate fee report".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6909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443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519588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AIRA: AI-Powered Assistant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8763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Dual-LLM Engine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76300" y="30289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Primary: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Gemini API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complex reasoning.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Fallback: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Ollama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(Gemma 4)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running locally for privacy and offline capability.</a:t>
            </a:r>
            <a:endParaRPr dirty="0"/>
          </a:p>
        </p:txBody>
      </p:sp>
      <p:sp>
        <p:nvSpPr>
          <p:cNvPr id="224" name="Google Shape;224;p21"/>
          <p:cNvSpPr txBox="1"/>
          <p:nvPr/>
        </p:nvSpPr>
        <p:spPr>
          <a:xfrm>
            <a:off x="46482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MCP Integration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4648200" y="3028950"/>
            <a:ext cx="2895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 Context Protocol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standardize tool calling. The LLM interacts with the database via defined Python scripts for reading and writing data.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4201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Action Pipeline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420100" y="3028950"/>
            <a:ext cx="2895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→ Plan → Preview → Confirm → Execute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Critical write/delete operations require explicit user confirmation to prevent AI hallucinations.</a:t>
            </a:r>
            <a:endParaRPr/>
          </a:p>
        </p:txBody>
      </p:sp>
      <p:pic>
        <p:nvPicPr>
          <p:cNvPr id="228" name="Google Shape;22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1781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17811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1781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AIRA Technical Architecture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71525" y="581025"/>
            <a:ext cx="4990623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Entity Relationship Overview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81025" y="581025"/>
            <a:ext cx="47625" cy="971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22" title="Aira .png"/>
          <p:cNvPicPr preferRelativeResize="0"/>
          <p:nvPr/>
        </p:nvPicPr>
        <p:blipFill rotWithShape="1">
          <a:blip r:embed="rId4">
            <a:alphaModFix/>
          </a:blip>
          <a:srcRect l="-606" r="1222"/>
          <a:stretch/>
        </p:blipFill>
        <p:spPr>
          <a:xfrm>
            <a:off x="5623675" y="0"/>
            <a:ext cx="636687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81025" y="221932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Interconnected Clusters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81025" y="27336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database is designed around four main logical clusters: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581025" y="5857875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schema prioritizes data integrity with strict foreign key constraints.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66750" y="3533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771525" y="3533775"/>
            <a:ext cx="4752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&amp; Access: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College, Department, User, Role.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66750" y="38385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771525" y="38385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Academic Structure: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Course, Batch, Section (The central grouping unit).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66750" y="44481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71525" y="4448175"/>
            <a:ext cx="47529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Daily O</a:t>
            </a:r>
            <a:r>
              <a:rPr lang="en-US" sz="1500" b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Timetable, Attendance, Subject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Allocation.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66750" y="5057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71525" y="5057775"/>
            <a:ext cx="47529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Assessment &amp; Finance: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Exams, Marks, Fee Structure, Payments.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447800"/>
            <a:ext cx="34861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876300" y="2400300"/>
            <a:ext cx="304038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Section-Centric Design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876300" y="33528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(e.g., "CSE-A") is the atomic unit. Timetables, attendance, and exam scheduling are all linked to Sections, not just Batches.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46482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Decoupled Allocation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4648200" y="30289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Subject Allocation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separate from the Timetable. This allows flexibility—one staff member can teach a subject to multiple sections.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420100" y="24003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3-Tier Fees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8420100" y="302895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Structure → Detail → Payment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allows granular breakdowns (Tuition vs Lab) while maintaining a simple total for the student.</a:t>
            </a:r>
            <a:endParaRPr/>
          </a:p>
        </p:txBody>
      </p:sp>
      <p:pic>
        <p:nvPicPr>
          <p:cNvPr id="266" name="Google Shape;26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17811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17811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17811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Key Structural Decisions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58479"/>
            <a:ext cx="3422600" cy="300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2358479"/>
            <a:ext cx="3422600" cy="300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2358479"/>
            <a:ext cx="3422600" cy="300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4"/>
          <p:cNvSpPr txBox="1"/>
          <p:nvPr/>
        </p:nvSpPr>
        <p:spPr>
          <a:xfrm>
            <a:off x="781050" y="2749004"/>
            <a:ext cx="30225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781050" y="3701504"/>
            <a:ext cx="30225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Multi-Campus Ready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781050" y="4092029"/>
            <a:ext cx="30225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'College' entity at the root allows the system to scale to multiple campuses without schema changes.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4584650" y="2749004"/>
            <a:ext cx="30225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4584650" y="3701504"/>
            <a:ext cx="30225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Hybrid Grading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4584650" y="4092029"/>
            <a:ext cx="30225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Supports auto-calculated GPAs based on percentage, but retains a 'Manual Override' flag for edge cases.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8388250" y="2749004"/>
            <a:ext cx="30225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8388250" y="3701504"/>
            <a:ext cx="30225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 Audit Trail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388250" y="4092029"/>
            <a:ext cx="30225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AIRA actions are logged separately from standard user logs, providing full accountability for AI operations.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Strategic Design Decisions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4">
          <a:extLst>
            <a:ext uri="{FF2B5EF4-FFF2-40B4-BE49-F238E27FC236}">
              <a16:creationId xmlns:a16="http://schemas.microsoft.com/office/drawing/2014/main" id="{EB972618-D784-83E4-AA32-FAFED286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>
            <a:extLst>
              <a:ext uri="{FF2B5EF4-FFF2-40B4-BE49-F238E27FC236}">
                <a16:creationId xmlns:a16="http://schemas.microsoft.com/office/drawing/2014/main" id="{437F8390-C7AD-483F-3EBD-F06395D529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>
            <a:extLst>
              <a:ext uri="{FF2B5EF4-FFF2-40B4-BE49-F238E27FC236}">
                <a16:creationId xmlns:a16="http://schemas.microsoft.com/office/drawing/2014/main" id="{1ACD68DF-134C-FA1C-7CAA-18BAC7714900}"/>
              </a:ext>
            </a:extLst>
          </p:cNvPr>
          <p:cNvSpPr txBox="1"/>
          <p:nvPr/>
        </p:nvSpPr>
        <p:spPr>
          <a:xfrm>
            <a:off x="771525" y="581025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GitHub </a:t>
            </a:r>
            <a:r>
              <a:rPr lang="en-US" sz="3150" b="1" i="0" u="none" strike="noStrike" cap="none" dirty="0" err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Repositorie</a:t>
            </a:r>
            <a:endParaRPr dirty="0"/>
          </a:p>
        </p:txBody>
      </p:sp>
      <p:sp>
        <p:nvSpPr>
          <p:cNvPr id="289" name="Google Shape;289;p24">
            <a:extLst>
              <a:ext uri="{FF2B5EF4-FFF2-40B4-BE49-F238E27FC236}">
                <a16:creationId xmlns:a16="http://schemas.microsoft.com/office/drawing/2014/main" id="{745DC572-900C-CF26-9CED-462A3BD2C08D}"/>
              </a:ext>
            </a:extLst>
          </p:cNvPr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06AC9F-2242-7850-69C6-280FF8754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229032"/>
            <a:ext cx="10318441" cy="529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58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/>
          <p:nvPr/>
        </p:nvSpPr>
        <p:spPr>
          <a:xfrm>
            <a:off x="1769025" y="3433525"/>
            <a:ext cx="110301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81025" y="5660997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22775" y="2915822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81025" y="4305373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81025" y="4305373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25" title="system.png"/>
          <p:cNvPicPr preferRelativeResize="0"/>
          <p:nvPr/>
        </p:nvPicPr>
        <p:blipFill rotWithShape="1">
          <a:blip r:embed="rId3">
            <a:alphaModFix/>
          </a:blip>
          <a:srcRect l="4906" r="4897"/>
          <a:stretch/>
        </p:blipFill>
        <p:spPr>
          <a:xfrm>
            <a:off x="396000" y="1729352"/>
            <a:ext cx="1769136" cy="98284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2218413" y="1906473"/>
            <a:ext cx="99345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F9F7F7"/>
                </a:solidFill>
              </a:rPr>
              <a:t>Breaking Agents: Compromising Autonomous LLM Agents Through Malfunction Amplification</a:t>
            </a:r>
            <a:endParaRPr sz="1800">
              <a:solidFill>
                <a:srgbClr val="F9F7F7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2218413" y="2350279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https://arxiv.org/html/2407.20859v1</a:t>
            </a:r>
            <a:endParaRPr sz="1800"/>
          </a:p>
        </p:txBody>
      </p:sp>
      <p:pic>
        <p:nvPicPr>
          <p:cNvPr id="302" name="Google Shape;302;p25"/>
          <p:cNvPicPr preferRelativeResize="0"/>
          <p:nvPr/>
        </p:nvPicPr>
        <p:blipFill rotWithShape="1">
          <a:blip r:embed="rId4">
            <a:alphaModFix/>
          </a:blip>
          <a:srcRect t="22222" b="22222"/>
          <a:stretch/>
        </p:blipFill>
        <p:spPr>
          <a:xfrm>
            <a:off x="396000" y="2991627"/>
            <a:ext cx="1769125" cy="98285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2218425" y="3126448"/>
            <a:ext cx="103512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128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Why Do Multi-Agent LLM Systems Fail?</a:t>
            </a:r>
            <a:endParaRPr sz="180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2218425" y="3508888"/>
            <a:ext cx="9934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https://arxiv.org/abs/2503.13657</a:t>
            </a:r>
            <a:endParaRPr sz="1800"/>
          </a:p>
        </p:txBody>
      </p:sp>
      <p:pic>
        <p:nvPicPr>
          <p:cNvPr id="305" name="Google Shape;305;p25" title="unnamed.jpg"/>
          <p:cNvPicPr preferRelativeResize="0"/>
          <p:nvPr/>
        </p:nvPicPr>
        <p:blipFill rotWithShape="1">
          <a:blip r:embed="rId5">
            <a:alphaModFix/>
          </a:blip>
          <a:srcRect t="22222" b="22222"/>
          <a:stretch/>
        </p:blipFill>
        <p:spPr>
          <a:xfrm>
            <a:off x="396000" y="4442838"/>
            <a:ext cx="1769124" cy="98285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5"/>
          <p:cNvSpPr txBox="1"/>
          <p:nvPr/>
        </p:nvSpPr>
        <p:spPr>
          <a:xfrm>
            <a:off x="2165125" y="4482943"/>
            <a:ext cx="99345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0" indent="0" algn="l" rtl="0">
              <a:lnSpc>
                <a:spcPct val="91283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Agent-SafetyBench: Evaluating the Safety of LLM Agents</a:t>
            </a:r>
            <a:endParaRPr sz="180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9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25"/>
          <p:cNvSpPr txBox="1"/>
          <p:nvPr/>
        </p:nvSpPr>
        <p:spPr>
          <a:xfrm>
            <a:off x="2332125" y="4893850"/>
            <a:ext cx="10351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80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https://arxiv.org/abs/2412.14470</a:t>
            </a:r>
            <a:endParaRPr sz="1800"/>
          </a:p>
        </p:txBody>
      </p:sp>
      <p:sp>
        <p:nvSpPr>
          <p:cNvPr id="308" name="Google Shape;308;p25"/>
          <p:cNvSpPr txBox="1"/>
          <p:nvPr/>
        </p:nvSpPr>
        <p:spPr>
          <a:xfrm>
            <a:off x="771525" y="581025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Reference Paper</a:t>
            </a:r>
            <a:endParaRPr/>
          </a:p>
        </p:txBody>
      </p:sp>
      <p:sp>
        <p:nvSpPr>
          <p:cNvPr id="309" name="Google Shape;309;p25"/>
          <p:cNvSpPr/>
          <p:nvPr/>
        </p:nvSpPr>
        <p:spPr>
          <a:xfrm>
            <a:off x="581025" y="581025"/>
            <a:ext cx="47625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955</Words>
  <Application>Microsoft Office PowerPoint</Application>
  <PresentationFormat>Widescreen</PresentationFormat>
  <Paragraphs>103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</vt:lpstr>
      <vt:lpstr>Inter</vt:lpstr>
      <vt:lpstr>Inter SemiBold</vt:lpstr>
      <vt:lpstr>JetBrains Mono</vt:lpstr>
      <vt:lpstr>Calibri</vt:lpstr>
      <vt:lpstr>Petrona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Rajesh Rasu</cp:lastModifiedBy>
  <cp:revision>2</cp:revision>
  <dcterms:modified xsi:type="dcterms:W3CDTF">2026-04-13T03:59:53Z</dcterms:modified>
</cp:coreProperties>
</file>