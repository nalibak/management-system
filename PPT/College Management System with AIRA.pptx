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0" Type="http://schemas.openxmlformats.org/officeDocument/2006/relationships/image" Target="../media/image29.png"/><Relationship Id="rId9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1" Type="http://schemas.openxmlformats.org/officeDocument/2006/relationships/image" Target="../media/image34.png"/><Relationship Id="rId10" Type="http://schemas.openxmlformats.org/officeDocument/2006/relationships/image" Target="../media/image42.png"/><Relationship Id="rId9" Type="http://schemas.openxmlformats.org/officeDocument/2006/relationships/image" Target="../media/image36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Relationship Id="rId6" Type="http://schemas.openxmlformats.org/officeDocument/2006/relationships/image" Target="../media/image37.png"/><Relationship Id="rId7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41.png"/><Relationship Id="rId7" Type="http://schemas.openxmlformats.org/officeDocument/2006/relationships/image" Target="../media/image45.png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5092898"/>
            <a:ext cx="1057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47750" y="841027"/>
            <a:ext cx="10572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PRESENTATION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47750" y="1648717"/>
            <a:ext cx="11101387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College Management System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with AI Agent (AIRA)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43025" y="3587948"/>
            <a:ext cx="10277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KABILAN.S.S [22TH0024]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43025" y="3930848"/>
            <a:ext cx="10277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LOGAPRIYAN.A [22TH0028]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343025" y="4273748"/>
            <a:ext cx="10277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RAJESH.R [22TH0043]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47750" y="5483423"/>
            <a:ext cx="10572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Department of Information Technology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Rajiv Gandhi College of Engineering &amp; Technology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62604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96894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4311848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2600"/>
            <a:ext cx="5238750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09650" y="2133600"/>
            <a:ext cx="4640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Objective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9650" y="2543175"/>
            <a:ext cx="4419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develop a comprehensive, scalable College Management System integrated with an intelligent AI agent, AIRA, to streamline administrative and academic operations.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9650" y="3952875"/>
            <a:ext cx="4640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Innovation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9650" y="4362450"/>
            <a:ext cx="4419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Integration of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Dual-LLM Engine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(Google Gemini + Local Llama 3.2) providing a natural language interface for complex database queries.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381750" y="26812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Outcomes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72250" y="30527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Refined Requirements: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Tailored for credit-based semester systems.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72250" y="37576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Scalable Architecture: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Section-centric design ready for multi-campus deployment.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72250" y="44624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Privacy: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Hybrid local-cloud AI approach ensures sensitive data security.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3105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38100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45148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Abstract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12001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8240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digitized solution for technical colleges operating on a credit-based semester system. The core innovation is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AIRA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a floating chat assistant available on every screen.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311943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Architecture Highlights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8854" y="2047875"/>
            <a:ext cx="3944391" cy="3809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57225" y="3490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34909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Section-Centric Design: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Scheduling and attendance are linked to 'Sections' (e.g., CSE-A), not just batches, allowing granular control.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7225" y="45005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45005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Multi-Campus Ready: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'College' entity at the root allows the system to scale to multiple branches without schema changes.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7225" y="55102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55102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Role-Based Access: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Strict hierarchy from Super Admin to Staff.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Introduction &amp; Architecture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12001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0446"/>
            <a:ext cx="5405437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140446"/>
            <a:ext cx="5405437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28107"/>
            <a:ext cx="5405437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428107"/>
            <a:ext cx="5405437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15767"/>
            <a:ext cx="5405437" cy="104953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809625" y="2283321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Authentication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2559546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Role-based login (Super Admin, Admin, HOD, Staff), session handling, and comprehensive activity logs for security auditing.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453187" y="2283321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College &amp; Dept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53187" y="2559546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Manages multi-campus metadata and department structures (e.g., CSE, ECE) with Head of Department (HOD) mapping.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09625" y="3570982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Curriculum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09625" y="3847207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Defines Courses (B.Tech), Semesters, and Subjects with credit mapping and department allocation.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453187" y="3570982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Batches &amp; Sections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453187" y="3847207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Manages admission years (Batches) and dynamic Sections (A, B, C) which serve as the primary grouping unit.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09625" y="4858642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Staff Management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9625" y="5134867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Profiles, designations, and critical Subject Allocation (Staff ↔ Subject ↔ Section).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Administration Modules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" y="12001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0446"/>
            <a:ext cx="5405437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140446"/>
            <a:ext cx="5405437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28107"/>
            <a:ext cx="5405437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428107"/>
            <a:ext cx="5405437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15767"/>
            <a:ext cx="5405437" cy="104953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809625" y="2283321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6. Timetable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09625" y="2559546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Complex scheduling linking Period + Room + Staff + Subject + Section.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453187" y="2283321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7. Assessments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453187" y="2559546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Internal/External exams, marks entry, and auto-calculation of GPA/CGPA with manual overrides.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09625" y="3570982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8. Attendance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09625" y="3847207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Granular period-wise tracking with auto-derived day-wise summaries.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453187" y="3570982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9. Fee Management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453187" y="3847207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3-Tier Structure: Fee Structure → Components → Payments. Tracks dues and receipts efficiently.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09625" y="4858642"/>
            <a:ext cx="52256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10. Reporting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09625" y="5134867"/>
            <a:ext cx="49768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PDF/Excel generation for mark sheets, defaulter lists, and attendance summaries.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Academic &amp; Finance Modules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71500" y="12001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7708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08684"/>
            <a:ext cx="5238750" cy="294679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177165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Manual Navigation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04875" y="2278260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Users must navigate deep menu trees to find simple data (e.g., "Students with &lt;75% attendance").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306496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Rigid Reporting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3571577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Custom reports require SQL knowledge or manual Excel aggregation. No instant, flexible data retrieval.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4358282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Limited Access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04875" y="4864893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Strictly for Admin/Faculty. No student portal for viewing marks or fee status.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5651599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Complex Fee Handling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04875" y="6158210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Manual management of quotas (Govt, Mgmt, Scholarship) is error-prone and time-consuming.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828800"/>
            <a:ext cx="285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22116"/>
            <a:ext cx="285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15432"/>
            <a:ext cx="285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08749"/>
            <a:ext cx="2857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Existing System Challenges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12001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762000" y="762000"/>
            <a:ext cx="48006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AIRA: AI-Powered Assistant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62000" y="2381250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intelligent overlay present on every screen, providing a natural language interface for database operations.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62000" y="4116288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Context Aware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62000" y="4516338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Knows exactly which page and section you are viewing.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62000" y="5043933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Smart Actions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62000" y="5443983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"Show me CSE attendance &lt; 75%" or "Generate fee report".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62000" y="6245869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Role Restricted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62000" y="6645919"/>
            <a:ext cx="4572000" cy="2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Strictly mirrors the logged-in user's permissions.</a:t>
            </a:r>
            <a:endParaRPr/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3533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062983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64919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38700"/>
            <a:ext cx="5238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205483"/>
            <a:ext cx="5238750" cy="349478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571500" y="25527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95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Frontend: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HTML, CSS, JS (Vanilla for performance).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71500" y="30480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049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Backend: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Python (FastAPI) for native JSON handling.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71500" y="35433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71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Database: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MySQL (XAMPP) for structured financial records.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71500" y="43434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AI Core: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Ollama (Llama 3.2) + Google Gemini API.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0985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1051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6004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4005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Hardware &amp; Software Stack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71500" y="12001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66180"/>
            <a:ext cx="5238750" cy="1293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549997"/>
            <a:ext cx="52387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790033"/>
            <a:ext cx="52387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731591"/>
            <a:ext cx="5238750" cy="244256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6619875" y="2209055"/>
            <a:ext cx="50506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Student Portal &amp; App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619875" y="2485280"/>
            <a:ext cx="48101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Currently, the system is Admin/Staff focused. Future versions will include a dedicated student portal and mobile app for viewing marks and attendance.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619875" y="3692872"/>
            <a:ext cx="50506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Advanced Analytics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619875" y="3969097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Integration of predictive models to identify students "At-Risk" of dropping out based on attendance and marks data trends.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619875" y="4932908"/>
            <a:ext cx="50506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Voice Integration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619875" y="5209133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Expanding AIRA to accept voice commands for hands-free operation in classrooms or labs.</a:t>
            </a:r>
            <a:endParaRPr/>
          </a:p>
        </p:txBody>
      </p:sp>
      <p:pic>
        <p:nvPicPr>
          <p:cNvPr descr="image.png" id="247" name="Google Shape;24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19875" y="222810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9875" y="371192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19875" y="4951958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Future Enhancements</a:t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571500" y="12001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4330779" y="1635472"/>
            <a:ext cx="353044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2286000" y="2787997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College Management System with AIRA</a:t>
            </a: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bridges the gap between traditional database management and modern AI capabilities.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8687" y="4128938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4505325" y="4776638"/>
            <a:ext cx="800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Efficiency</a:t>
            </a:r>
            <a:endParaRPr/>
          </a:p>
        </p:txBody>
      </p:sp>
      <p:pic>
        <p:nvPicPr>
          <p:cNvPr descr="image.png" id="262" name="Google Shape;26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7412" y="412893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5686425" y="4776638"/>
            <a:ext cx="94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Intelligence</a:t>
            </a:r>
            <a:endParaRPr/>
          </a:p>
        </p:txBody>
      </p:sp>
      <p:pic>
        <p:nvPicPr>
          <p:cNvPr descr="image.png" id="264" name="Google Shape;26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81850" y="4128938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7010400" y="4776638"/>
            <a:ext cx="676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/>
          <p:nvPr/>
        </p:nvSpPr>
        <p:spPr>
          <a:xfrm>
            <a:off x="571500" y="179754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71500" y="258231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336708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71500" y="434994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571500" y="25727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" y="25727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71500" y="3357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571500" y="3357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71500" y="43404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571500" y="43404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571500" y="51251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571500" y="51251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69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1666875" y="194042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https://www.freeprojectz.com/sites/default/files/xCollege,P20Management,P20System,P20Zero,P20Level.jpeg.pagespeed.ic.RCxL_NAFnQ.jpg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666875" y="218613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www.freeprojectz.com</a:t>
            </a:r>
            <a:endParaRPr/>
          </a:p>
        </p:txBody>
      </p:sp>
      <p:pic>
        <p:nvPicPr>
          <p:cNvPr descr="image.png" id="286" name="Google Shape;28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31740"/>
            <a:ext cx="1295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 txBox="1"/>
          <p:nvPr/>
        </p:nvSpPr>
        <p:spPr>
          <a:xfrm>
            <a:off x="1666875" y="272519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https://hackaday.com/wp-content/uploads/2026/01/digitize_feat.jpg?w=800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1666875" y="29709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hackaday.com</a:t>
            </a:r>
            <a:endParaRPr/>
          </a:p>
        </p:txBody>
      </p:sp>
      <p:pic>
        <p:nvPicPr>
          <p:cNvPr descr="image.png" id="289" name="Google Shape;28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156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1666875" y="350996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https://elements-resized.envatousercontent.com/elements-cover-images/7adb7040-45dd-4987-97b1-c14beae353b8?w=433&amp;cf_fit=scale-down&amp;q=85&amp;format=auto&amp;s=0480af9f2f0aa731f73ff758e524fcd4d439404eaab0cf23bcea562616ef36d6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1666875" y="39537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elements.envato.com</a:t>
            </a:r>
            <a:endParaRPr/>
          </a:p>
        </p:txBody>
      </p:sp>
      <p:pic>
        <p:nvPicPr>
          <p:cNvPr descr="image.png" id="292" name="Google Shape;29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993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1666875" y="449282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https://blog.logrocket.com/wp-content/uploads/2021/10/server-side-rendering-fastapi-mysql.png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666875" y="473853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blog.logrocket.com</a:t>
            </a:r>
            <a:endParaRPr/>
          </a:p>
        </p:txBody>
      </p:sp>
      <p:pic>
        <p:nvPicPr>
          <p:cNvPr descr="image.png" id="295" name="Google Shape;29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83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3"/>
          <p:cNvSpPr txBox="1"/>
          <p:nvPr/>
        </p:nvSpPr>
        <p:spPr>
          <a:xfrm>
            <a:off x="1666875" y="527759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https://www.bostondigital.com/_next/image?url=http%3A%2F%2Fbackend.bostondigital.com%2Fsites%2Fdefault%2Ffiles%2Fstyles%2Fwide_800_2x%2Fpublic%2F2018-05%2FBlog_Header_67.jpg%3Fitok%3Db6kMJZiP&amp;w=1920&amp;q=100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1666875" y="572139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www.bostondigital.com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571500" y="12001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